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7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5" d="100"/>
          <a:sy n="105" d="100"/>
        </p:scale>
        <p:origin x="1794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42416" y="2514601"/>
            <a:ext cx="6600451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942416" y="4777380"/>
            <a:ext cx="6600451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8"/>
          <p:cNvSpPr/>
          <p:nvPr/>
        </p:nvSpPr>
        <p:spPr bwMode="auto">
          <a:xfrm>
            <a:off x="-31719" y="4321158"/>
            <a:ext cx="1395473" cy="781781"/>
          </a:xfrm>
          <a:custGeom>
            <a:avLst/>
            <a:gdLst/>
            <a:ahLst/>
            <a:cxnLst/>
            <a:rect l="l" t="t" r="r" b="b"/>
            <a:pathLst>
              <a:path w="8042" h="10000">
                <a:moveTo>
                  <a:pt x="5799" y="10000"/>
                </a:moveTo>
                <a:cubicBezTo>
                  <a:pt x="5880" y="10000"/>
                  <a:pt x="5934" y="9940"/>
                  <a:pt x="5961" y="9880"/>
                </a:cubicBezTo>
                <a:cubicBezTo>
                  <a:pt x="5961" y="9820"/>
                  <a:pt x="5988" y="9820"/>
                  <a:pt x="5988" y="9820"/>
                </a:cubicBezTo>
                <a:lnTo>
                  <a:pt x="8042" y="5260"/>
                </a:lnTo>
                <a:cubicBezTo>
                  <a:pt x="8096" y="5140"/>
                  <a:pt x="8096" y="4901"/>
                  <a:pt x="8042" y="4721"/>
                </a:cubicBezTo>
                <a:lnTo>
                  <a:pt x="5988" y="221"/>
                </a:lnTo>
                <a:cubicBezTo>
                  <a:pt x="5988" y="160"/>
                  <a:pt x="5961" y="160"/>
                  <a:pt x="5961" y="160"/>
                </a:cubicBezTo>
                <a:cubicBezTo>
                  <a:pt x="5934" y="101"/>
                  <a:pt x="5880" y="41"/>
                  <a:pt x="5799" y="41"/>
                </a:cubicBezTo>
                <a:lnTo>
                  <a:pt x="18" y="0"/>
                </a:lnTo>
                <a:cubicBezTo>
                  <a:pt x="12" y="3330"/>
                  <a:pt x="6" y="6661"/>
                  <a:pt x="0" y="9991"/>
                </a:cubicBezTo>
                <a:lnTo>
                  <a:pt x="5799" y="1000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423334" y="4529541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43846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5201" y="624110"/>
            <a:ext cx="6589199" cy="128089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42415" y="2133600"/>
            <a:ext cx="6591985" cy="37776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77963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2074562"/>
            <a:ext cx="6591985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2415" y="3581400"/>
            <a:ext cx="6591985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58" y="3166527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8" y="3244140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30476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942416" y="2136706"/>
            <a:ext cx="3197531" cy="376739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337307" y="2136706"/>
            <a:ext cx="3197093" cy="376739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0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8" y="787783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86491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65352" y="2226626"/>
            <a:ext cx="287459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942415" y="2802888"/>
            <a:ext cx="3197532" cy="3105703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6154" y="2223398"/>
            <a:ext cx="28732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333715" y="2799660"/>
            <a:ext cx="3195680" cy="3105703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8" y="787783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76751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5200" y="624110"/>
            <a:ext cx="6589200" cy="128089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6897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88170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446088"/>
            <a:ext cx="2629584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43494" y="446089"/>
            <a:ext cx="3790906" cy="5414963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1598613"/>
            <a:ext cx="2629584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40232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4800600"/>
            <a:ext cx="6591985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942415" y="634965"/>
            <a:ext cx="6591985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5367338"/>
            <a:ext cx="6591985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4910660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11228" y="4983088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15828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609600"/>
            <a:ext cx="6591985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2415" y="4354046"/>
            <a:ext cx="6591985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3166527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8" y="3244140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42357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88123" y="609600"/>
            <a:ext cx="6109587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415972" y="3505200"/>
            <a:ext cx="5653888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2415" y="4354046"/>
            <a:ext cx="6591985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9" name="Freeform 11"/>
          <p:cNvSpPr/>
          <p:nvPr/>
        </p:nvSpPr>
        <p:spPr bwMode="auto">
          <a:xfrm flipV="1">
            <a:off x="58" y="3166527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8" y="3244140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1808316" y="648005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69533" y="290530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03999712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2438401"/>
            <a:ext cx="6591985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5181600"/>
            <a:ext cx="6591985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58" y="4910660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11228" y="4983088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560028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"/>
          <p:cNvSpPr>
            <a:spLocks noGrp="1"/>
          </p:cNvSpPr>
          <p:nvPr>
            <p:ph type="title"/>
          </p:nvPr>
        </p:nvSpPr>
        <p:spPr>
          <a:xfrm>
            <a:off x="2188123" y="609600"/>
            <a:ext cx="6109587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942415" y="4343400"/>
            <a:ext cx="6688292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5181600"/>
            <a:ext cx="6688292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0" name="Freeform 11"/>
          <p:cNvSpPr/>
          <p:nvPr/>
        </p:nvSpPr>
        <p:spPr bwMode="auto">
          <a:xfrm flipV="1">
            <a:off x="58" y="4910660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11228" y="4983088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1808316" y="648005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69533" y="290530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50139082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6" y="627407"/>
            <a:ext cx="6591984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942415" y="4343400"/>
            <a:ext cx="6591985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5181600"/>
            <a:ext cx="6591985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4910660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11228" y="4983088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280727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952908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78535" y="627406"/>
            <a:ext cx="1656132" cy="5283817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942416" y="627406"/>
            <a:ext cx="4716348" cy="528381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94498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6" name="Group 35"/>
          <p:cNvGrpSpPr/>
          <p:nvPr/>
        </p:nvGrpSpPr>
        <p:grpSpPr>
          <a:xfrm>
            <a:off x="1" y="228600"/>
            <a:ext cx="1981200" cy="6638628"/>
            <a:chOff x="2487613" y="285750"/>
            <a:chExt cx="2428875" cy="5654676"/>
          </a:xfrm>
          <a:solidFill>
            <a:schemeClr val="accent1">
              <a:lumMod val="75000"/>
              <a:alpha val="40000"/>
            </a:schemeClr>
          </a:solidFill>
        </p:grpSpPr>
        <p:sp>
          <p:nvSpPr>
            <p:cNvPr id="37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8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9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0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1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3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4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5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6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7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8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9" name="Group 48"/>
          <p:cNvGrpSpPr/>
          <p:nvPr/>
        </p:nvGrpSpPr>
        <p:grpSpPr>
          <a:xfrm>
            <a:off x="20421" y="-318"/>
            <a:ext cx="1952272" cy="6853571"/>
            <a:chOff x="6627813" y="195220"/>
            <a:chExt cx="1952625" cy="5678531"/>
          </a:xfrm>
          <a:solidFill>
            <a:schemeClr val="accent1"/>
          </a:solidFill>
        </p:grpSpPr>
        <p:sp>
          <p:nvSpPr>
            <p:cNvPr id="50" name="Freeform 27"/>
            <p:cNvSpPr/>
            <p:nvPr/>
          </p:nvSpPr>
          <p:spPr bwMode="auto">
            <a:xfrm>
              <a:off x="6627813" y="195220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1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2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3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4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5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6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7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8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9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0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1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62" name="Rectangle 61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945200" y="624110"/>
            <a:ext cx="6589200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2415" y="2133600"/>
            <a:ext cx="6591985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772400" y="6135089"/>
            <a:ext cx="766380" cy="3701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42415" y="6135809"/>
            <a:ext cx="571648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11228" y="787783"/>
            <a:ext cx="58497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275386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8" r:id="rId1"/>
    <p:sldLayoutId id="2147483679" r:id="rId2"/>
    <p:sldLayoutId id="2147483680" r:id="rId3"/>
    <p:sldLayoutId id="2147483681" r:id="rId4"/>
    <p:sldLayoutId id="2147483682" r:id="rId5"/>
    <p:sldLayoutId id="2147483683" r:id="rId6"/>
    <p:sldLayoutId id="2147483684" r:id="rId7"/>
    <p:sldLayoutId id="2147483685" r:id="rId8"/>
    <p:sldLayoutId id="2147483686" r:id="rId9"/>
    <p:sldLayoutId id="2147483687" r:id="rId10"/>
    <p:sldLayoutId id="2147483688" r:id="rId11"/>
    <p:sldLayoutId id="2147483689" r:id="rId12"/>
    <p:sldLayoutId id="2147483690" r:id="rId13"/>
    <p:sldLayoutId id="2147483691" r:id="rId14"/>
    <p:sldLayoutId id="2147483692" r:id="rId15"/>
    <p:sldLayoutId id="2147483693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AI-Based Risk Detection for NASA Missions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dirty="0"/>
              <a:t>Hayden</a:t>
            </a:r>
            <a:r>
              <a:rPr dirty="0"/>
              <a:t> Hartz</a:t>
            </a:r>
          </a:p>
          <a:p>
            <a:pPr marL="0" indent="0" algn="ctr">
              <a:buNone/>
            </a:pPr>
            <a:r>
              <a:rPr dirty="0"/>
              <a:t>ITAI 2372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Space missions produce large amounts of data</a:t>
            </a:r>
          </a:p>
          <a:p>
            <a:r>
              <a:t>Difficult for humans to monitor everything</a:t>
            </a:r>
          </a:p>
          <a:p>
            <a:r>
              <a:t>Risks may go unnoticed until it is too late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Solution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AI system that analyzes mission data</a:t>
            </a:r>
          </a:p>
          <a:p>
            <a:r>
              <a:t>Detects unusual patterns</a:t>
            </a:r>
          </a:p>
          <a:p>
            <a:r>
              <a:t>Provides early warnings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How It Works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Uses machine learning (anomaly detection)</a:t>
            </a:r>
          </a:p>
          <a:p>
            <a:r>
              <a:t>Trained on past mission data</a:t>
            </a:r>
          </a:p>
          <a:p>
            <a:r>
              <a:t>Monitors real-time data</a:t>
            </a:r>
          </a:p>
          <a:p>
            <a:r>
              <a:t>Flags potential risks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Used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Temperature</a:t>
            </a:r>
          </a:p>
          <a:p>
            <a:r>
              <a:t>Fuel levels</a:t>
            </a:r>
          </a:p>
          <a:p>
            <a:r>
              <a:t>Equipment performance</a:t>
            </a:r>
          </a:p>
          <a:p>
            <a:r>
              <a:t>Communication signals</a:t>
            </a:r>
          </a:p>
          <a:p>
            <a:r>
              <a:t>Navigation data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Benefits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Faster problem detection</a:t>
            </a:r>
          </a:p>
          <a:p>
            <a:r>
              <a:t>Improved safety</a:t>
            </a:r>
          </a:p>
          <a:p>
            <a:r>
              <a:t>Better decision-making</a:t>
            </a:r>
          </a:p>
          <a:p>
            <a:r>
              <a:t>Reduced human error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Testing Plan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Test with historical data</a:t>
            </a:r>
          </a:p>
          <a:p>
            <a:r>
              <a:t>Simulate mission problems</a:t>
            </a:r>
          </a:p>
          <a:p>
            <a:r>
              <a:t>Measure accuracy and speed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AI can improve mission success</a:t>
            </a:r>
          </a:p>
          <a:p>
            <a:r>
              <a:t>Helps detect risks early</a:t>
            </a:r>
          </a:p>
          <a:p>
            <a:r>
              <a:t>Supports NASA teams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Wisp">
  <a:themeElements>
    <a:clrScheme name="Wisp">
      <a:dk1>
        <a:sysClr val="windowText" lastClr="000000"/>
      </a:dk1>
      <a:lt1>
        <a:sysClr val="window" lastClr="FFFFFF"/>
      </a:lt1>
      <a:dk2>
        <a:srgbClr val="2C333A"/>
      </a:dk2>
      <a:lt2>
        <a:srgbClr val="D6ECED"/>
      </a:lt2>
      <a:accent1>
        <a:srgbClr val="DE32DE"/>
      </a:accent1>
      <a:accent2>
        <a:srgbClr val="F42B8A"/>
      </a:accent2>
      <a:accent3>
        <a:srgbClr val="349FE7"/>
      </a:accent3>
      <a:accent4>
        <a:srgbClr val="565FF8"/>
      </a:accent4>
      <a:accent5>
        <a:srgbClr val="876BE7"/>
      </a:accent5>
      <a:accent6>
        <a:srgbClr val="F268C2"/>
      </a:accent6>
      <a:hlink>
        <a:srgbClr val="F55CF9"/>
      </a:hlink>
      <a:folHlink>
        <a:srgbClr val="E8A0EE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F20B7C8E-B819-43F3-AAF9-EE50B1A8363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2</TotalTime>
  <Words>115</Words>
  <Application>Microsoft Office PowerPoint</Application>
  <PresentationFormat>On-screen Show (4:3)</PresentationFormat>
  <Paragraphs>35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Century Gothic</vt:lpstr>
      <vt:lpstr>Wingdings 3</vt:lpstr>
      <vt:lpstr>Wisp</vt:lpstr>
      <vt:lpstr>AI-Based Risk Detection for NASA Missions</vt:lpstr>
      <vt:lpstr>Problem</vt:lpstr>
      <vt:lpstr>Solution</vt:lpstr>
      <vt:lpstr>How It Works</vt:lpstr>
      <vt:lpstr>Data Used</vt:lpstr>
      <vt:lpstr>Benefits</vt:lpstr>
      <vt:lpstr>Testing Plan</vt:lpstr>
      <vt:lpstr>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hayden hartz</dc:creator>
  <cp:keywords/>
  <dc:description>generated using python-pptx</dc:description>
  <cp:lastModifiedBy>hayden hartz</cp:lastModifiedBy>
  <cp:revision>2</cp:revision>
  <dcterms:created xsi:type="dcterms:W3CDTF">2013-01-27T09:14:16Z</dcterms:created>
  <dcterms:modified xsi:type="dcterms:W3CDTF">2026-04-27T02:09:18Z</dcterms:modified>
  <cp:category/>
</cp:coreProperties>
</file>